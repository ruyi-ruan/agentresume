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平均出汤</c:v>
                </c:pt>
              </c:strCache>
            </c:strRef>
          </c:tx>
          <c:spPr>
            <a:ln w="31750">
              <a:solidFill>
                <a:srgbClr val="B85042"/>
              </a:solidFill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14.0</c:v>
                </c:pt>
                <c:pt idx="1">
                  <c:v>7.12</c:v>
                </c:pt>
                <c:pt idx="2">
                  <c:v>15.0</c:v>
                </c:pt>
                <c:pt idx="3">
                  <c:v>15.0</c:v>
                </c:pt>
                <c:pt idx="4">
                  <c:v>14.38</c:v>
                </c:pt>
                <c:pt idx="5">
                  <c:v>15.19</c:v>
                </c:pt>
                <c:pt idx="6">
                  <c:v>11.31</c:v>
                </c:pt>
                <c:pt idx="7">
                  <c:v>17.81</c:v>
                </c:pt>
                <c:pt idx="8">
                  <c:v>18.56</c:v>
                </c:pt>
                <c:pt idx="9">
                  <c:v>18.19</c:v>
                </c:pt>
                <c:pt idx="10">
                  <c:v>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2.0"/>
          <c:min val="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CCC2"/>
                </a:solidFill>
                <a:latin typeface="Microsoft YaHei"/>
              </a:rPr>
              <a:t>AgentResume · 环境总览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9601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过时的印象，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会让人读错伙伴吗？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004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9CCC2"/>
                </a:solidFill>
                <a:latin typeface="Microsoft YaHei"/>
              </a:rPr>
              <a:t>在 Overcooked 厨房里，让 Alice 变强，看 Bob 还能不能读懂她。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4206240"/>
            <a:ext cx="1188720" cy="11887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Alice</a:t>
            </a:r>
          </a:p>
        </p:txBody>
      </p:sp>
      <p:sp>
        <p:nvSpPr>
          <p:cNvPr id="7" name="Oval 6"/>
          <p:cNvSpPr/>
          <p:nvPr/>
        </p:nvSpPr>
        <p:spPr>
          <a:xfrm>
            <a:off x="8595360" y="4206240"/>
            <a:ext cx="1188720" cy="1188720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Bob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4709160"/>
            <a:ext cx="1554480" cy="27432"/>
          </a:xfrm>
          <a:prstGeom prst="rect">
            <a:avLst/>
          </a:prstGeom>
          <a:solidFill>
            <a:srgbClr val="C9B8A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4709160"/>
            <a:ext cx="1554480" cy="27432"/>
          </a:xfrm>
          <a:prstGeom prst="rect">
            <a:avLst/>
          </a:prstGeom>
          <a:solidFill>
            <a:srgbClr val="C9B8A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2793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AAA0"/>
                </a:solidFill>
                <a:latin typeface="Microsoft YaHei"/>
              </a:rPr>
              <a:t>旧印象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8646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AAA0"/>
                </a:solidFill>
                <a:latin typeface="Microsoft YaHei"/>
              </a:rPr>
              <a:t>真实动作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5262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E2B457"/>
                </a:solidFill>
                <a:latin typeface="Microsoft YaHe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AAA0"/>
                </a:solidFill>
                <a:latin typeface="Microsoft YaHei"/>
              </a:rPr>
              <a:t>3 张地图 · 3 个训练种子 · 9 组实验 · 4050 次模型调用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5042"/>
                </a:solidFill>
                <a:latin typeface="Microsoft YaHei"/>
              </a:rPr>
              <a:t>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11 × 7 的厨房，两人一起出汤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5778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1288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45336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9384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13432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81528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5576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9624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01768" y="1783080"/>
            <a:ext cx="7315" cy="2688336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1783080"/>
            <a:ext cx="4224528" cy="27432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167128"/>
            <a:ext cx="4224528" cy="27432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2551176"/>
            <a:ext cx="4224528" cy="27432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2935224"/>
            <a:ext cx="4224528" cy="27432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319272"/>
            <a:ext cx="4224528" cy="27432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703320"/>
            <a:ext cx="4224528" cy="27432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087368"/>
            <a:ext cx="4224528" cy="27432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471416"/>
            <a:ext cx="4224528" cy="27432"/>
          </a:xfrm>
          <a:prstGeom prst="rect">
            <a:avLst/>
          </a:prstGeom>
          <a:solidFill>
            <a:srgbClr val="E5D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27148" y="3332988"/>
            <a:ext cx="356616" cy="356616"/>
          </a:xfrm>
          <a:prstGeom prst="rect">
            <a:avLst/>
          </a:prstGeom>
          <a:solidFill>
            <a:srgbClr val="6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3095244" y="2564892"/>
            <a:ext cx="356616" cy="356616"/>
          </a:xfrm>
          <a:prstGeom prst="rect">
            <a:avLst/>
          </a:prstGeom>
          <a:solidFill>
            <a:srgbClr val="6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1175004" y="2564892"/>
            <a:ext cx="356616" cy="356616"/>
          </a:xfrm>
          <a:prstGeom prst="rect">
            <a:avLst/>
          </a:prstGeom>
          <a:solidFill>
            <a:srgbClr val="6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9" name="Rectangle 28"/>
          <p:cNvSpPr/>
          <p:nvPr/>
        </p:nvSpPr>
        <p:spPr>
          <a:xfrm>
            <a:off x="2711196" y="3332988"/>
            <a:ext cx="356616" cy="356616"/>
          </a:xfrm>
          <a:prstGeom prst="rect">
            <a:avLst/>
          </a:prstGeom>
          <a:solidFill>
            <a:srgbClr val="6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0" name="Rectangle 29"/>
          <p:cNvSpPr/>
          <p:nvPr/>
        </p:nvSpPr>
        <p:spPr>
          <a:xfrm>
            <a:off x="4247388" y="2564892"/>
            <a:ext cx="356616" cy="356616"/>
          </a:xfrm>
          <a:prstGeom prst="rect">
            <a:avLst/>
          </a:prstGeom>
          <a:solidFill>
            <a:srgbClr val="6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1" name="Rectangle 30"/>
          <p:cNvSpPr/>
          <p:nvPr/>
        </p:nvSpPr>
        <p:spPr>
          <a:xfrm>
            <a:off x="790956" y="2564892"/>
            <a:ext cx="356616" cy="356616"/>
          </a:xfrm>
          <a:prstGeom prst="rect">
            <a:avLst/>
          </a:prstGeom>
          <a:solidFill>
            <a:srgbClr val="6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3479292" y="2564892"/>
            <a:ext cx="356616" cy="356616"/>
          </a:xfrm>
          <a:prstGeom prst="rect">
            <a:avLst/>
          </a:prstGeom>
          <a:solidFill>
            <a:srgbClr val="6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3" name="Rectangle 32"/>
          <p:cNvSpPr/>
          <p:nvPr/>
        </p:nvSpPr>
        <p:spPr>
          <a:xfrm>
            <a:off x="1559051" y="2564892"/>
            <a:ext cx="356616" cy="356616"/>
          </a:xfrm>
          <a:prstGeom prst="rect">
            <a:avLst/>
          </a:prstGeom>
          <a:solidFill>
            <a:srgbClr val="6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3863339" y="2564892"/>
            <a:ext cx="356616" cy="356616"/>
          </a:xfrm>
          <a:prstGeom prst="rect">
            <a:avLst/>
          </a:prstGeom>
          <a:solidFill>
            <a:srgbClr val="6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5" name="Rounded Rectangle 34"/>
          <p:cNvSpPr/>
          <p:nvPr/>
        </p:nvSpPr>
        <p:spPr>
          <a:xfrm>
            <a:off x="1197864" y="1819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E2C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0248" y="412394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E2C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65960" y="22037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9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34056" y="22037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9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02152" y="22037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9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81912" y="412394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9F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34056" y="412394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9F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412394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9F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" y="29718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" y="3739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54296" y="29718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54296" y="373989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S</a:t>
            </a:r>
          </a:p>
        </p:txBody>
      </p:sp>
      <p:sp>
        <p:nvSpPr>
          <p:cNvPr id="47" name="Oval 46"/>
          <p:cNvSpPr/>
          <p:nvPr/>
        </p:nvSpPr>
        <p:spPr>
          <a:xfrm>
            <a:off x="1984248" y="2990088"/>
            <a:ext cx="274320" cy="2743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48" name="Oval 47"/>
          <p:cNvSpPr/>
          <p:nvPr/>
        </p:nvSpPr>
        <p:spPr>
          <a:xfrm>
            <a:off x="3136392" y="3758183"/>
            <a:ext cx="274320" cy="274320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C7C72"/>
                </a:solidFill>
                <a:latin typeface="Microsoft YaHei"/>
              </a:rPr>
              <a:t>每格 1 步 · 墙挡住视线与通路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1828800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51" name="Oval 50"/>
          <p:cNvSpPr/>
          <p:nvPr/>
        </p:nvSpPr>
        <p:spPr>
          <a:xfrm>
            <a:off x="6601968" y="1938528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200253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拿 3 个洋葱，放进锅里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2578608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54" name="Oval 53"/>
          <p:cNvSpPr/>
          <p:nvPr/>
        </p:nvSpPr>
        <p:spPr>
          <a:xfrm>
            <a:off x="6601968" y="2688336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275234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空手点火开煮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3328415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57" name="Oval 56"/>
          <p:cNvSpPr/>
          <p:nvPr/>
        </p:nvSpPr>
        <p:spPr>
          <a:xfrm>
            <a:off x="6601968" y="3438144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3502151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煮 20 个 tick 出锅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92240" y="4078224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0" name="Oval 59"/>
          <p:cNvSpPr/>
          <p:nvPr/>
        </p:nvSpPr>
        <p:spPr>
          <a:xfrm>
            <a:off x="6601968" y="4187952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4251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先拿盘子，再端汤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92240" y="4828031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3" name="Oval 62"/>
          <p:cNvSpPr/>
          <p:nvPr/>
        </p:nvSpPr>
        <p:spPr>
          <a:xfrm>
            <a:off x="6601968" y="4937759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500176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送到出餐口，每碗 +20 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5669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5F58"/>
                </a:solidFill>
                <a:latin typeface="Microsoft YaHei"/>
              </a:rPr>
              <a:t>洋葱台 ×2 · 锅 ×3 · 盘子台 ×3 · 出餐口 ×4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F58"/>
                </a:solidFill>
                <a:latin typeface="Microsoft YaHei"/>
              </a:rPr>
              <a:t>三张地图 A / B / C 设施相同，只有墙不一样 · 一局 700 tick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5042"/>
                </a:solidFill>
                <a:latin typeface="Microsoft YaHei"/>
              </a:rPr>
              <a:t>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Alice 负责“变强”，Bob 负责“搞懂她”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949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Rounded Rectangle 5"/>
          <p:cNvSpPr/>
          <p:nvPr/>
        </p:nvSpPr>
        <p:spPr>
          <a:xfrm>
            <a:off x="6309360" y="1600200"/>
            <a:ext cx="521208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7" name="Oval 6"/>
          <p:cNvSpPr/>
          <p:nvPr/>
        </p:nvSpPr>
        <p:spPr>
          <a:xfrm>
            <a:off x="914400" y="1810512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86537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A2320"/>
                </a:solidFill>
                <a:latin typeface="Microsoft YaHei"/>
              </a:rPr>
              <a:t>Alice · 被研究的那个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578608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E8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B4A3F"/>
                </a:solidFill>
                <a:latin typeface="Microsoft YaHei"/>
              </a:rPr>
              <a:t>182 维状态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88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7A79B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2578608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E8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B4A3F"/>
                </a:solidFill>
                <a:latin typeface="Microsoft YaHei"/>
              </a:rPr>
              <a:t>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688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7A79B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578608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E8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B4A3F"/>
                </a:solidFill>
                <a:latin typeface="Microsoft YaHei"/>
              </a:rPr>
              <a:t>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5856" y="2688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7A79B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4" y="2578608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8 种意图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10128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5F58"/>
                </a:solidFill>
                <a:latin typeface="Microsoft YaHei"/>
              </a:rPr>
              <a:t>输出 8 种高层意图：拿料 / 下锅 / 点火 / 拿盘 / 取汤 / 送餐 / 等锅 / 原地。</a:t>
            </a:r>
          </a:p>
          <a:p>
            <a:pPr algn="l"/>
            <a:r>
              <a:rPr sz="1300" b="0">
                <a:solidFill>
                  <a:srgbClr val="6B5F58"/>
                </a:solidFill>
                <a:latin typeface="Microsoft YaHei"/>
              </a:rPr>
              <a:t>走位和按键由“执行器”代劳——那是肌肉，不是决策。</a:t>
            </a:r>
          </a:p>
        </p:txBody>
      </p:sp>
      <p:sp>
        <p:nvSpPr>
          <p:cNvPr id="17" name="Oval 16"/>
          <p:cNvSpPr/>
          <p:nvPr/>
        </p:nvSpPr>
        <p:spPr>
          <a:xfrm>
            <a:off x="6565392" y="1810512"/>
            <a:ext cx="566928" cy="566928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186537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A2320"/>
                </a:solidFill>
                <a:latin typeface="Microsoft YaHei"/>
              </a:rPr>
              <a:t>Bob · 搭档兼读心者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578608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6B4A3F"/>
                </a:solidFill>
                <a:latin typeface="Microsoft YaHei"/>
              </a:rPr>
              <a:t>供料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6883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A79B"/>
                </a:solidFill>
                <a:latin typeface="Microsoft YaHei"/>
              </a:rPr>
              <a:t>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2578608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6B4A3F"/>
                </a:solidFill>
                <a:latin typeface="Microsoft YaHei"/>
              </a:rPr>
              <a:t>做服务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2670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85042"/>
                </a:solidFill>
                <a:latin typeface="Microsoft YaHe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246120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还要猜 Alice 想干嘛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840480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5344"/>
                </a:solidFill>
                <a:latin typeface="Microsoft YaHei"/>
              </a:rPr>
              <a:t>为什么只猜这两种？</a:t>
            </a:r>
          </a:p>
          <a:p>
            <a:pPr algn="l"/>
            <a:r>
              <a:rPr sz="1100" b="0">
                <a:solidFill>
                  <a:srgbClr val="7A5344"/>
                </a:solidFill>
                <a:latin typeface="Microsoft YaHei"/>
              </a:rPr>
              <a:t>题目是有意挑出的岔路口：画面一样、第一步也一样——她要么守着锅（PRE），要么转身拿洋葱（FETCH）。其余 6 种意图的场面会露底。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20640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BEDE9"/>
          </a:solidFill>
          <a:ln w="1270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6" name="TextBox 25"/>
          <p:cNvSpPr txBox="1"/>
          <p:nvPr/>
        </p:nvSpPr>
        <p:spPr>
          <a:xfrm>
            <a:off x="896112" y="5248656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8E3A2F"/>
                </a:solidFill>
                <a:latin typeface="Microsoft YaHei"/>
              </a:rPr>
              <a:t>关键：Alice 的真实意图不会喂给 Bob —— 他只能靠画面、动作和手里的印象。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70585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C6A5E"/>
                </a:solidFill>
                <a:latin typeface="Microsoft YaHei"/>
              </a:rPr>
              <a:t>这三样东西的差别，就是实验唯一在变的量。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5042"/>
                </a:solidFill>
                <a:latin typeface="Microsoft YaHei"/>
              </a:rPr>
              <a:t>Alice 的训练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两个台阶：先模仿，再变强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12064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20116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成长前 · 行为克隆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5F58"/>
                </a:solidFill>
                <a:latin typeface="Microsoft YaHei"/>
              </a:rPr>
              <a:t>照着保守专家做：</a:t>
            </a:r>
          </a:p>
          <a:p>
            <a:pPr algn="l"/>
            <a:r>
              <a:rPr sz="1300" b="0">
                <a:solidFill>
                  <a:srgbClr val="6B5F58"/>
                </a:solidFill>
                <a:latin typeface="Microsoft YaHei"/>
              </a:rPr>
              <a:t>24 局训练 + 16 局独立测试，100 轮迭代。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21208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0" name="Oval 9"/>
          <p:cNvSpPr/>
          <p:nvPr/>
        </p:nvSpPr>
        <p:spPr>
          <a:xfrm>
            <a:off x="6565392" y="196596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78624" y="2011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成长后 · 继续强化学习（PPO）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743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5F58"/>
                </a:solidFill>
                <a:latin typeface="Microsoft YaHei"/>
              </a:rPr>
              <a:t>从成长前接着练：</a:t>
            </a:r>
          </a:p>
          <a:p>
            <a:pPr algn="l"/>
            <a:r>
              <a:rPr sz="1300" b="0">
                <a:solidFill>
                  <a:srgbClr val="6B5F58"/>
                </a:solidFill>
                <a:latin typeface="Microsoft YaHei"/>
              </a:rPr>
              <a:t>50 次更新 × 每次 8 局 × 700 tick。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120640"/>
            <a:ext cx="2377440" cy="457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4480560"/>
            <a:ext cx="4572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4480560"/>
            <a:ext cx="6949440" cy="457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977639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8E3A2F"/>
                </a:solidFill>
                <a:latin typeface="Microsoft YaHei"/>
              </a:rPr>
              <a:t>能力门槛：平均多出 ≥ 1.0 碗，且 ≥ 17/32 个起点变好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5F58"/>
                </a:solidFill>
                <a:latin typeface="Microsoft YaHei"/>
              </a:rPr>
              <a:t>9 组全部过门槛：3 个训练种子 × 3 张地图。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5042"/>
                </a:solidFill>
                <a:latin typeface="Microsoft YaHei"/>
              </a:rPr>
              <a:t>训练 · 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先跟专家抄，再自己练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2240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Oval 5"/>
          <p:cNvSpPr/>
          <p:nvPr/>
        </p:nvSpPr>
        <p:spPr>
          <a:xfrm>
            <a:off x="877824" y="1572768"/>
            <a:ext cx="438912" cy="43891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0312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320"/>
                </a:solidFill>
                <a:latin typeface="Microsoft YaHei"/>
              </a:rPr>
              <a:t>规则专家跑 24 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774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每局 700 tick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8288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AFA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2696" y="1463040"/>
            <a:ext cx="2240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3502152" y="1572768"/>
            <a:ext cx="438912" cy="438912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10312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320"/>
                </a:solidFill>
                <a:latin typeface="Microsoft YaHei"/>
              </a:rPr>
              <a:t>每个决策点记一条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3774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状态 → 意图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8696" y="18288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AFA4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07024" y="1463040"/>
            <a:ext cx="2240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6" name="Oval 15"/>
          <p:cNvSpPr/>
          <p:nvPr/>
        </p:nvSpPr>
        <p:spPr>
          <a:xfrm>
            <a:off x="6126480" y="1572768"/>
            <a:ext cx="438912" cy="438912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0312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320"/>
                </a:solidFill>
                <a:latin typeface="Microsoft YaHei"/>
              </a:rPr>
              <a:t>3736 条样本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774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每局约 156 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8288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AFA4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1352" y="1463040"/>
            <a:ext cx="2240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1" name="Oval 20"/>
          <p:cNvSpPr/>
          <p:nvPr/>
        </p:nvSpPr>
        <p:spPr>
          <a:xfrm>
            <a:off x="8750808" y="1572768"/>
            <a:ext cx="438912" cy="43891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10312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320"/>
                </a:solidFill>
                <a:latin typeface="Microsoft YaHei"/>
              </a:rPr>
              <a:t>BC 100 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3774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照抄专家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971800"/>
            <a:ext cx="557784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5" name="TextBox 24"/>
          <p:cNvSpPr txBox="1"/>
          <p:nvPr/>
        </p:nvSpPr>
        <p:spPr>
          <a:xfrm>
            <a:off x="896112" y="3108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A2320"/>
                </a:solidFill>
                <a:latin typeface="Microsoft YaHei"/>
              </a:rPr>
              <a:t>训练数据的两条真样本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356616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7" name="TextBox 26"/>
          <p:cNvSpPr txBox="1"/>
          <p:nvPr/>
        </p:nvSpPr>
        <p:spPr>
          <a:xfrm>
            <a:off x="1024128" y="3657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E3A2F"/>
                </a:solidFill>
                <a:latin typeface="Microsoft YaHei"/>
              </a:rPr>
              <a:t>标签 FETCH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93192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三口锅都空、两人空手、t=0</a:t>
            </a:r>
          </a:p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→ 该去拿洋葱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356616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0" name="TextBox 29"/>
          <p:cNvSpPr txBox="1"/>
          <p:nvPr/>
        </p:nvSpPr>
        <p:spPr>
          <a:xfrm>
            <a:off x="3739896" y="3657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E3A2F"/>
                </a:solidFill>
                <a:latin typeface="Microsoft YaHei"/>
              </a:rPr>
              <a:t>标签 PRE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896" y="393192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1 号锅正在煮、空手、t=33</a:t>
            </a:r>
          </a:p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→ 该在锅边等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F58"/>
                </a:solidFill>
                <a:latin typeface="Microsoft YaHei"/>
              </a:rPr>
              <a:t>每条 = 182 维状态（位置 / 手持 / 三口锅 / 时间 / 已交付）+ 一个标签 + 一份“合法意图”掩码。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2971800"/>
            <a:ext cx="507492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4" name="TextBox 33"/>
          <p:cNvSpPr txBox="1"/>
          <p:nvPr/>
        </p:nvSpPr>
        <p:spPr>
          <a:xfrm>
            <a:off x="667512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A2320"/>
                </a:solidFill>
                <a:latin typeface="Microsoft YaHei"/>
              </a:rPr>
              <a:t>专家的标签都长什么样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51129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4A3F"/>
                </a:solidFill>
                <a:latin typeface="Microsoft YaHei"/>
              </a:rPr>
              <a:t>PRE 等锅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3474720"/>
            <a:ext cx="3520440" cy="310896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7" name="Rounded Rectangle 36"/>
          <p:cNvSpPr/>
          <p:nvPr/>
        </p:nvSpPr>
        <p:spPr>
          <a:xfrm>
            <a:off x="7818120" y="3474720"/>
            <a:ext cx="3520440" cy="310896"/>
          </a:xfrm>
          <a:prstGeom prst="roundRect">
            <a:avLst>
              <a:gd name="adj" fmla="val 12000"/>
            </a:avLst>
          </a:prstGeom>
          <a:solidFill>
            <a:srgbClr val="A98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52%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85876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4A3F"/>
                </a:solidFill>
                <a:latin typeface="Microsoft YaHei"/>
              </a:rPr>
              <a:t>HOLD 原地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3822191"/>
            <a:ext cx="3520440" cy="310896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40" name="Rounded Rectangle 39"/>
          <p:cNvSpPr/>
          <p:nvPr/>
        </p:nvSpPr>
        <p:spPr>
          <a:xfrm>
            <a:off x="7818120" y="3822191"/>
            <a:ext cx="812409" cy="310896"/>
          </a:xfrm>
          <a:prstGeom prst="roundRect">
            <a:avLst>
              <a:gd name="adj" fmla="val 12000"/>
            </a:avLst>
          </a:prstGeom>
          <a:solidFill>
            <a:srgbClr val="C6B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12%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2062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4A3F"/>
                </a:solidFill>
                <a:latin typeface="Microsoft YaHei"/>
              </a:rPr>
              <a:t>FETCH 拿料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4169663"/>
            <a:ext cx="3520440" cy="310896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43" name="Rounded Rectangle 42"/>
          <p:cNvSpPr/>
          <p:nvPr/>
        </p:nvSpPr>
        <p:spPr>
          <a:xfrm>
            <a:off x="7818120" y="4169663"/>
            <a:ext cx="677007" cy="310896"/>
          </a:xfrm>
          <a:prstGeom prst="roundRect">
            <a:avLst>
              <a:gd name="adj" fmla="val 12000"/>
            </a:avLst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55371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4A3F"/>
                </a:solidFill>
                <a:latin typeface="Microsoft YaHei"/>
              </a:rPr>
              <a:t>PLACE 下锅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4517136"/>
            <a:ext cx="3520440" cy="310896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46" name="Rounded Rectangle 45"/>
          <p:cNvSpPr/>
          <p:nvPr/>
        </p:nvSpPr>
        <p:spPr>
          <a:xfrm>
            <a:off x="7818120" y="4517136"/>
            <a:ext cx="677007" cy="310896"/>
          </a:xfrm>
          <a:prstGeom prst="roundRect">
            <a:avLst>
              <a:gd name="adj" fmla="val 12000"/>
            </a:avLst>
          </a:prstGeom>
          <a:solidFill>
            <a:srgbClr val="9F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901183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4A3F"/>
                </a:solidFill>
                <a:latin typeface="Microsoft YaHei"/>
              </a:rPr>
              <a:t>其余四种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18120" y="4864607"/>
            <a:ext cx="3520440" cy="310896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49" name="Rounded Rectangle 48"/>
          <p:cNvSpPr/>
          <p:nvPr/>
        </p:nvSpPr>
        <p:spPr>
          <a:xfrm>
            <a:off x="7818120" y="4864607"/>
            <a:ext cx="1083212" cy="310896"/>
          </a:xfrm>
          <a:prstGeom prst="roundRect">
            <a:avLst>
              <a:gd name="adj" fmla="val 12000"/>
            </a:avLst>
          </a:prstGeom>
          <a:solidFill>
            <a:srgbClr val="C9B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16%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24865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同一刻度：一半以上示范都是“在锅边等”，这是基础版爱站着的出处。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FA08E"/>
                </a:solidFill>
                <a:latin typeface="Microsoft YaHei"/>
              </a:rPr>
              <a:t>训练 · 变强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变强不是被教出来的，是试出来又被留下的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576072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A2320"/>
                </a:solidFill>
                <a:latin typeface="Microsoft YaHei"/>
              </a:rPr>
              <a:t>验证集出汤：先掉下去，再爬上来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68680" y="2148840"/>
          <a:ext cx="534924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6112" y="4617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横轴：第几次更新（共 50 次）· 竖轴：16 个验证局平均出汤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49377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0" name="TextBox 9"/>
          <p:cNvSpPr txBox="1"/>
          <p:nvPr/>
        </p:nvSpPr>
        <p:spPr>
          <a:xfrm>
            <a:off x="6812280" y="1773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320"/>
                </a:solidFill>
                <a:latin typeface="Microsoft YaHei"/>
              </a:rPr>
              <a:t>行为被重新分配（同一批测试起点）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32257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4A3F"/>
                </a:solidFill>
                <a:latin typeface="Microsoft YaHei"/>
              </a:rPr>
              <a:t>PRE 等锅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286000"/>
            <a:ext cx="3291840" cy="329184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8001000" y="2286000"/>
            <a:ext cx="3291840" cy="329184"/>
          </a:xfrm>
          <a:prstGeom prst="roundRect">
            <a:avLst>
              <a:gd name="adj" fmla="val 12000"/>
            </a:avLst>
          </a:prstGeom>
          <a:solidFill>
            <a:srgbClr val="A98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648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834640"/>
            <a:ext cx="3291840" cy="329184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5" name="Rounded Rectangle 14"/>
          <p:cNvSpPr/>
          <p:nvPr/>
        </p:nvSpPr>
        <p:spPr>
          <a:xfrm>
            <a:off x="8001000" y="2834640"/>
            <a:ext cx="457200" cy="329184"/>
          </a:xfrm>
          <a:prstGeom prst="roundRect">
            <a:avLst>
              <a:gd name="adj" fmla="val 12000"/>
            </a:avLst>
          </a:prstGeom>
          <a:solidFill>
            <a:srgbClr val="C9B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4198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4A3F"/>
                </a:solidFill>
                <a:latin typeface="Microsoft YaHei"/>
              </a:rPr>
              <a:t>FETCH 拿料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383280"/>
            <a:ext cx="3291840" cy="329184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8" name="Rounded Rectangle 17"/>
          <p:cNvSpPr/>
          <p:nvPr/>
        </p:nvSpPr>
        <p:spPr>
          <a:xfrm>
            <a:off x="8001000" y="3383280"/>
            <a:ext cx="629920" cy="329184"/>
          </a:xfrm>
          <a:prstGeom prst="roundRect">
            <a:avLst>
              <a:gd name="adj" fmla="val 12000"/>
            </a:avLst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124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931920"/>
            <a:ext cx="3291840" cy="329184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0" name="Rounded Rectangle 19"/>
          <p:cNvSpPr/>
          <p:nvPr/>
        </p:nvSpPr>
        <p:spPr>
          <a:xfrm>
            <a:off x="8001000" y="3931920"/>
            <a:ext cx="1727200" cy="329184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480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同一刻度（100% = 648 次）：等待几乎消失，拿料翻近三倍。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7492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3" name="TextBox 22"/>
          <p:cNvSpPr txBox="1"/>
          <p:nvPr/>
        </p:nvSpPr>
        <p:spPr>
          <a:xfrm>
            <a:off x="841247" y="51389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A2320"/>
                </a:solidFill>
                <a:latin typeface="Microsoft YaHei"/>
              </a:rPr>
              <a:t>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5595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平时“拿料”的概率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7" y="507492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6" name="TextBox 25"/>
          <p:cNvSpPr txBox="1"/>
          <p:nvPr/>
        </p:nvSpPr>
        <p:spPr>
          <a:xfrm>
            <a:off x="4590288" y="51389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A2320"/>
                </a:solidFill>
                <a:latin typeface="Microsoft YaHei"/>
              </a:rPr>
              <a:t>16.9%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55595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探索时被抽中的概率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507492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BEDE9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9" name="TextBox 28"/>
          <p:cNvSpPr txBox="1"/>
          <p:nvPr/>
        </p:nvSpPr>
        <p:spPr>
          <a:xfrm>
            <a:off x="8339327" y="51389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8E3A2F"/>
                </a:solidFill>
                <a:latin typeface="Microsoft YaHei"/>
              </a:rPr>
              <a:t>98.9%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55595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练成后的概率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5042"/>
                </a:solidFill>
                <a:latin typeface="Microsoft YaHei"/>
              </a:rPr>
              <a:t>训练 · 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9 组，9 个各自长大的 Alice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356616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841247" y="1572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7C72"/>
                </a:solidFill>
                <a:latin typeface="Microsoft YaHei"/>
              </a:rPr>
              <a:t>地图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157276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8C7C72"/>
                </a:solidFill>
                <a:latin typeface="Microsoft YaHei"/>
              </a:rPr>
              <a:t>种子 1801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14.0  →  20.0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6B5B"/>
                </a:solidFill>
                <a:latin typeface="Microsoft YaHei"/>
              </a:rPr>
              <a:t>提升 +6.0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481328"/>
            <a:ext cx="356616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1" name="TextBox 10"/>
          <p:cNvSpPr txBox="1"/>
          <p:nvPr/>
        </p:nvSpPr>
        <p:spPr>
          <a:xfrm>
            <a:off x="4553712" y="1572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7C72"/>
                </a:solidFill>
                <a:latin typeface="Microsoft YaHei"/>
              </a:rPr>
              <a:t>地图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157276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8C7C72"/>
                </a:solidFill>
                <a:latin typeface="Microsoft YaHei"/>
              </a:rPr>
              <a:t>种子 1802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6537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14.0  →  18.4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774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6B5B"/>
                </a:solidFill>
                <a:latin typeface="Microsoft YaHei"/>
              </a:rPr>
              <a:t>提升 +4.4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81328"/>
            <a:ext cx="356616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8266175" y="1572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7C72"/>
                </a:solidFill>
                <a:latin typeface="Microsoft YaHei"/>
              </a:rPr>
              <a:t>地图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157276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8C7C72"/>
                </a:solidFill>
                <a:latin typeface="Microsoft YaHei"/>
              </a:rPr>
              <a:t>种子 1803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86537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13.6  →  19.2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3774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6B5B"/>
                </a:solidFill>
                <a:latin typeface="Microsoft YaHei"/>
              </a:rPr>
              <a:t>提升 +5.6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834640"/>
            <a:ext cx="356616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1" name="TextBox 20"/>
          <p:cNvSpPr txBox="1"/>
          <p:nvPr/>
        </p:nvSpPr>
        <p:spPr>
          <a:xfrm>
            <a:off x="841247" y="29260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7C72"/>
                </a:solidFill>
                <a:latin typeface="Microsoft YaHei"/>
              </a:rPr>
              <a:t>地图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29260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8C7C72"/>
                </a:solidFill>
                <a:latin typeface="Microsoft YaHei"/>
              </a:rPr>
              <a:t>种子 1801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2186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14.5  →  20.0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73075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6B5B"/>
                </a:solidFill>
                <a:latin typeface="Microsoft YaHei"/>
              </a:rPr>
              <a:t>提升 +5.5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1" y="2834640"/>
            <a:ext cx="356616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6" name="TextBox 25"/>
          <p:cNvSpPr txBox="1"/>
          <p:nvPr/>
        </p:nvSpPr>
        <p:spPr>
          <a:xfrm>
            <a:off x="4553712" y="29260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7C72"/>
                </a:solidFill>
                <a:latin typeface="Microsoft YaHei"/>
              </a:rPr>
              <a:t>地图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1" y="29260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8C7C72"/>
                </a:solidFill>
                <a:latin typeface="Microsoft YaHei"/>
              </a:rPr>
              <a:t>种子 1802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2186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14.4  →  18.3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73075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6B5B"/>
                </a:solidFill>
                <a:latin typeface="Microsoft YaHei"/>
              </a:rPr>
              <a:t>提升 +3.9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2834640"/>
            <a:ext cx="356616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1" name="TextBox 30"/>
          <p:cNvSpPr txBox="1"/>
          <p:nvPr/>
        </p:nvSpPr>
        <p:spPr>
          <a:xfrm>
            <a:off x="8266175" y="29260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7C72"/>
                </a:solidFill>
                <a:latin typeface="Microsoft YaHei"/>
              </a:rPr>
              <a:t>地图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9260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8C7C72"/>
                </a:solidFill>
                <a:latin typeface="Microsoft YaHei"/>
              </a:rPr>
              <a:t>种子 1803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5" y="32186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14.6  →  19.5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373075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6B5B"/>
                </a:solidFill>
                <a:latin typeface="Microsoft YaHei"/>
              </a:rPr>
              <a:t>提升 +4.9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187952"/>
            <a:ext cx="356616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6" name="TextBox 35"/>
          <p:cNvSpPr txBox="1"/>
          <p:nvPr/>
        </p:nvSpPr>
        <p:spPr>
          <a:xfrm>
            <a:off x="841247" y="4279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7C72"/>
                </a:solidFill>
                <a:latin typeface="Microsoft YaHei"/>
              </a:rPr>
              <a:t>地图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427939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8C7C72"/>
                </a:solidFill>
                <a:latin typeface="Microsoft YaHei"/>
              </a:rPr>
              <a:t>种子 1801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15.7  →  19.8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508406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6B5B"/>
                </a:solidFill>
                <a:latin typeface="Microsoft YaHei"/>
              </a:rPr>
              <a:t>提升 +4.1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70831" y="4187952"/>
            <a:ext cx="356616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41" name="TextBox 40"/>
          <p:cNvSpPr txBox="1"/>
          <p:nvPr/>
        </p:nvSpPr>
        <p:spPr>
          <a:xfrm>
            <a:off x="4553712" y="4279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7C72"/>
                </a:solidFill>
                <a:latin typeface="Microsoft YaHei"/>
              </a:rPr>
              <a:t>地图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1" y="427939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8C7C72"/>
                </a:solidFill>
                <a:latin typeface="Microsoft YaHei"/>
              </a:rPr>
              <a:t>种子 1802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15.4  →  21.0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508406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6B5B"/>
                </a:solidFill>
                <a:latin typeface="Microsoft YaHei"/>
              </a:rPr>
              <a:t>提升 +5.6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83296" y="4187952"/>
            <a:ext cx="356616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46" name="TextBox 45"/>
          <p:cNvSpPr txBox="1"/>
          <p:nvPr/>
        </p:nvSpPr>
        <p:spPr>
          <a:xfrm>
            <a:off x="8266175" y="4279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7C72"/>
                </a:solidFill>
                <a:latin typeface="Microsoft YaHei"/>
              </a:rPr>
              <a:t>地图 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2096" y="427939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8C7C72"/>
                </a:solidFill>
                <a:latin typeface="Microsoft YaHei"/>
              </a:rPr>
              <a:t>种子 1803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5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A2320"/>
                </a:solidFill>
                <a:latin typeface="Microsoft YaHei"/>
              </a:rPr>
              <a:t>15.1  →  20.7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5" y="508406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6B5B"/>
                </a:solidFill>
                <a:latin typeface="Microsoft YaHei"/>
              </a:rPr>
              <a:t>提升 +5.6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48640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2EBE1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51" name="TextBox 50"/>
          <p:cNvSpPr txBox="1"/>
          <p:nvPr/>
        </p:nvSpPr>
        <p:spPr>
          <a:xfrm>
            <a:off x="804672" y="5559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320"/>
                </a:solidFill>
                <a:latin typeface="Microsoft YaHei"/>
              </a:rPr>
              <a:t>换地图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58338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5F58"/>
                </a:solidFill>
                <a:latin typeface="Microsoft YaHei"/>
              </a:rPr>
              <a:t>厨房几何全变，门槛各自过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01568" y="548640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2EBE1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54" name="TextBox 53"/>
          <p:cNvSpPr txBox="1"/>
          <p:nvPr/>
        </p:nvSpPr>
        <p:spPr>
          <a:xfrm>
            <a:off x="3547872" y="5559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320"/>
                </a:solidFill>
                <a:latin typeface="Microsoft YaHei"/>
              </a:rPr>
              <a:t>换种子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7872" y="58338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5F58"/>
                </a:solidFill>
                <a:latin typeface="Microsoft YaHei"/>
              </a:rPr>
              <a:t>起点/示范/回合全换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548640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2EBE1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57" name="TextBox 56"/>
          <p:cNvSpPr txBox="1"/>
          <p:nvPr/>
        </p:nvSpPr>
        <p:spPr>
          <a:xfrm>
            <a:off x="6291072" y="5559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320"/>
                </a:solidFill>
                <a:latin typeface="Microsoft YaHei"/>
              </a:rPr>
              <a:t>不共享权重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91072" y="58338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5F58"/>
                </a:solidFill>
                <a:latin typeface="Microsoft YaHei"/>
              </a:rPr>
              <a:t>post 接本组自己的 pre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87967" y="548640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2EBE1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0" name="TextBox 59"/>
          <p:cNvSpPr txBox="1"/>
          <p:nvPr/>
        </p:nvSpPr>
        <p:spPr>
          <a:xfrm>
            <a:off x="9034272" y="5559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2320"/>
                </a:solidFill>
                <a:latin typeface="Microsoft YaHei"/>
              </a:rPr>
              <a:t>要的是复现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34272" y="58338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5F58"/>
                </a:solidFill>
                <a:latin typeface="Microsoft YaHei"/>
              </a:rPr>
              <a:t>9 组独立才叫结论稳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每组各自采集示范（3725–4273 条）、各自跑 400 局 PPO；9 组合计约 86 分钟。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FA08E"/>
                </a:solidFill>
                <a:latin typeface="Microsoft YaHei"/>
              </a:rPr>
              <a:t>实验流程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从训练到读数，一共六步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1627632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Oval 5"/>
          <p:cNvSpPr/>
          <p:nvPr/>
        </p:nvSpPr>
        <p:spPr>
          <a:xfrm>
            <a:off x="1188719" y="210312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A2320"/>
                </a:solidFill>
                <a:latin typeface="Microsoft YaHei"/>
              </a:rPr>
              <a:t>训练 Alice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5468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5F58"/>
                </a:solidFill>
                <a:latin typeface="Microsoft YaHei"/>
              </a:rPr>
              <a:t>成长前 → 成长后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2304" y="1920240"/>
            <a:ext cx="1627632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0" name="Oval 9"/>
          <p:cNvSpPr/>
          <p:nvPr/>
        </p:nvSpPr>
        <p:spPr>
          <a:xfrm>
            <a:off x="2962656" y="2103120"/>
            <a:ext cx="566928" cy="566928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788920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A2320"/>
                </a:solidFill>
                <a:latin typeface="Microsoft YaHei"/>
              </a:rPr>
              <a:t>攒印象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315468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5F58"/>
                </a:solidFill>
                <a:latin typeface="Microsoft YaHei"/>
              </a:rPr>
              <a:t>Bob 旁观，只记看到的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920240"/>
            <a:ext cx="1627632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4" name="Oval 13"/>
          <p:cNvSpPr/>
          <p:nvPr/>
        </p:nvSpPr>
        <p:spPr>
          <a:xfrm>
            <a:off x="4736592" y="2103120"/>
            <a:ext cx="566928" cy="566928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788920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A2320"/>
                </a:solidFill>
                <a:latin typeface="Microsoft YaHei"/>
              </a:rPr>
              <a:t>挑关键局面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315468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5F58"/>
                </a:solidFill>
                <a:latin typeface="Microsoft YaHei"/>
              </a:rPr>
              <a:t>50 个 / 组，严格配对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0175" y="1920240"/>
            <a:ext cx="1627632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8" name="Oval 17"/>
          <p:cNvSpPr/>
          <p:nvPr/>
        </p:nvSpPr>
        <p:spPr>
          <a:xfrm>
            <a:off x="6510527" y="210312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5" y="2788920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A2320"/>
                </a:solidFill>
                <a:latin typeface="Microsoft YaHei"/>
              </a:rPr>
              <a:t>模型猜意图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5" y="315468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5F58"/>
                </a:solidFill>
                <a:latin typeface="Microsoft YaHei"/>
              </a:rPr>
              <a:t>每题问 3 次，取多数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54111" y="1920240"/>
            <a:ext cx="1627632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2" name="Oval 21"/>
          <p:cNvSpPr/>
          <p:nvPr/>
        </p:nvSpPr>
        <p:spPr>
          <a:xfrm>
            <a:off x="8284463" y="2103120"/>
            <a:ext cx="566928" cy="566928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1" y="2788920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A2320"/>
                </a:solidFill>
                <a:latin typeface="Microsoft YaHei"/>
              </a:rPr>
              <a:t>续跑 200 tick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1" y="315468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5F58"/>
                </a:solidFill>
                <a:latin typeface="Microsoft YaHei"/>
              </a:rPr>
              <a:t>看后面出几碗汤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8047" y="1920240"/>
            <a:ext cx="1627632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6" name="Oval 25"/>
          <p:cNvSpPr/>
          <p:nvPr/>
        </p:nvSpPr>
        <p:spPr>
          <a:xfrm>
            <a:off x="10058399" y="2103120"/>
            <a:ext cx="566928" cy="566928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7" y="2788920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A2320"/>
                </a:solidFill>
                <a:latin typeface="Microsoft YaHei"/>
              </a:rPr>
              <a:t>统计对比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7" y="315468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5F58"/>
                </a:solidFill>
                <a:latin typeface="Microsoft YaHei"/>
              </a:rPr>
              <a:t>准确率为主，得分为辅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09160"/>
            <a:ext cx="10332720" cy="36576"/>
          </a:xfrm>
          <a:prstGeom prst="rect">
            <a:avLst/>
          </a:prstGeom>
          <a:solidFill>
            <a:srgbClr val="C9B8A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5029200"/>
            <a:ext cx="10835640" cy="777240"/>
          </a:xfrm>
          <a:prstGeom prst="roundRect">
            <a:avLst>
              <a:gd name="adj" fmla="val 12000"/>
            </a:avLst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8E3A2F"/>
                </a:solidFill>
                <a:latin typeface="Microsoft YaHei"/>
              </a:rPr>
              <a:t>唯一变量：Bob 手里那份印象（旧 / 新 / 无）——Alice 和局面都不动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5042"/>
                </a:solidFill>
                <a:latin typeface="Microsoft YaHei"/>
              </a:rPr>
              <a:t>关键局面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同一幅画面，两种心思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3949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Oval 5"/>
          <p:cNvSpPr/>
          <p:nvPr/>
        </p:nvSpPr>
        <p:spPr>
          <a:xfrm>
            <a:off x="2990087" y="2057400"/>
            <a:ext cx="777240" cy="777240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5C4020"/>
                </a:solidFill>
                <a:latin typeface="Microsoft YaHei"/>
              </a:rPr>
              <a:t>锅</a:t>
            </a:r>
          </a:p>
        </p:txBody>
      </p:sp>
      <p:sp>
        <p:nvSpPr>
          <p:cNvPr id="7" name="Oval 6"/>
          <p:cNvSpPr/>
          <p:nvPr/>
        </p:nvSpPr>
        <p:spPr>
          <a:xfrm>
            <a:off x="2029967" y="3063240"/>
            <a:ext cx="548640" cy="5486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3200400"/>
            <a:ext cx="731520" cy="36576"/>
          </a:xfrm>
          <a:prstGeom prst="rect">
            <a:avLst/>
          </a:prstGeom>
          <a:solidFill>
            <a:srgbClr val="B85042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7088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E3A2F"/>
                </a:solidFill>
                <a:latin typeface="Microsoft YaHei"/>
              </a:rPr>
              <a:t>等锅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343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8E3A2F"/>
                </a:solidFill>
                <a:latin typeface="Microsoft YaHei"/>
              </a:rPr>
              <a:t>成长前：先等着看锅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737360"/>
            <a:ext cx="53949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2" name="Oval 11"/>
          <p:cNvSpPr/>
          <p:nvPr/>
        </p:nvSpPr>
        <p:spPr>
          <a:xfrm>
            <a:off x="8659367" y="2057400"/>
            <a:ext cx="777240" cy="777240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5C4020"/>
                </a:solidFill>
                <a:latin typeface="Microsoft YaHei"/>
              </a:rPr>
              <a:t>锅</a:t>
            </a:r>
          </a:p>
        </p:txBody>
      </p:sp>
      <p:sp>
        <p:nvSpPr>
          <p:cNvPr id="13" name="Oval 12"/>
          <p:cNvSpPr/>
          <p:nvPr/>
        </p:nvSpPr>
        <p:spPr>
          <a:xfrm>
            <a:off x="7699248" y="3063240"/>
            <a:ext cx="548640" cy="5486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9288" y="3108960"/>
            <a:ext cx="822960" cy="36576"/>
          </a:xfrm>
          <a:prstGeom prst="rect">
            <a:avLst/>
          </a:prstGeom>
          <a:solidFill>
            <a:srgbClr val="7FA08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13448" y="3200400"/>
            <a:ext cx="457200" cy="457200"/>
          </a:xfrm>
          <a:prstGeom prst="ellipse">
            <a:avLst/>
          </a:prstGeom>
          <a:solidFill>
            <a:srgbClr val="E2C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4020"/>
                </a:solidFill>
                <a:latin typeface="Microsoft YaHei"/>
              </a:rPr>
              <a:t>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4343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4E6B5B"/>
                </a:solidFill>
                <a:latin typeface="Microsoft YaHei"/>
              </a:rPr>
              <a:t>成长后：转身去拿洋葱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F58"/>
                </a:solidFill>
                <a:latin typeface="Microsoft YaHei"/>
              </a:rPr>
              <a:t>画面一样、第一步动作也一样——光看现场猜不出来，只能靠印象补那半句。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5042"/>
                </a:solidFill>
                <a:latin typeface="Microsoft YaHei"/>
              </a:rPr>
              <a:t>造题 · 第一步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50 个局面，是“摆”出来再“筛”出来的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2240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Oval 5"/>
          <p:cNvSpPr/>
          <p:nvPr/>
        </p:nvSpPr>
        <p:spPr>
          <a:xfrm>
            <a:off x="877824" y="1645920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128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搭布景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05456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两人站位 + 一口在煮的锅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9202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AFA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2696" y="1508760"/>
            <a:ext cx="2240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3502152" y="1645920"/>
            <a:ext cx="457200" cy="457200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128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挨个试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505456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每种站位都试一遍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8696" y="19202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AFA4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07024" y="1508760"/>
            <a:ext cx="2240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6" name="Oval 15"/>
          <p:cNvSpPr/>
          <p:nvPr/>
        </p:nvSpPr>
        <p:spPr>
          <a:xfrm>
            <a:off x="6126480" y="1645920"/>
            <a:ext cx="457200" cy="457200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128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两个 Alice 各决定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05456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想法不同才要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9202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AFA4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1352" y="1508760"/>
            <a:ext cx="2240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1" name="Oval 20"/>
          <p:cNvSpPr/>
          <p:nvPr/>
        </p:nvSpPr>
        <p:spPr>
          <a:xfrm>
            <a:off x="8750808" y="1645920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2128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一道筛子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505456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只留“看不出差别”的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063240"/>
            <a:ext cx="493776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5" name="Rectangle 24"/>
          <p:cNvSpPr/>
          <p:nvPr/>
        </p:nvSpPr>
        <p:spPr>
          <a:xfrm>
            <a:off x="868680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79576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90472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01368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12264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23160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34056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4952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55848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66744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77640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88536" y="3310128"/>
            <a:ext cx="7315" cy="217627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3310128"/>
            <a:ext cx="3419856" cy="2743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" y="3621024"/>
            <a:ext cx="3419856" cy="2743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" y="3931920"/>
            <a:ext cx="3419856" cy="2743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8680" y="4242816"/>
            <a:ext cx="3419856" cy="2743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" y="4553712"/>
            <a:ext cx="3419856" cy="2743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" y="4864608"/>
            <a:ext cx="3419856" cy="2743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8680" y="5175504"/>
            <a:ext cx="3419856" cy="2743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8680" y="5486400"/>
            <a:ext cx="3419856" cy="27432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423160" y="3745382"/>
            <a:ext cx="457200" cy="457200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5C4020"/>
                </a:solidFill>
                <a:latin typeface="Microsoft YaHei"/>
              </a:rPr>
              <a:t>锅</a:t>
            </a:r>
          </a:p>
        </p:txBody>
      </p:sp>
      <p:sp>
        <p:nvSpPr>
          <p:cNvPr id="46" name="Oval 45"/>
          <p:cNvSpPr/>
          <p:nvPr/>
        </p:nvSpPr>
        <p:spPr>
          <a:xfrm>
            <a:off x="1801368" y="4242816"/>
            <a:ext cx="329184" cy="32918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3200400" y="4678070"/>
            <a:ext cx="329184" cy="329184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3862" y="4646980"/>
            <a:ext cx="1188720" cy="27432"/>
          </a:xfrm>
          <a:prstGeom prst="rect">
            <a:avLst/>
          </a:prstGeom>
          <a:solidFill>
            <a:srgbClr val="7FA08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3218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C7C72"/>
                </a:solidFill>
                <a:latin typeface="Microsoft YaHei"/>
              </a:rPr>
              <a:t>布景：两人空手 · 锅里有 3 个洋葱、正煮着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89320" y="3063240"/>
            <a:ext cx="5394960" cy="502920"/>
          </a:xfrm>
          <a:prstGeom prst="roundRect">
            <a:avLst>
              <a:gd name="adj" fmla="val 12000"/>
            </a:avLst>
          </a:prstGeom>
          <a:solidFill>
            <a:srgbClr val="C6B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5,043 种站位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3584448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每张图都试一遍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89320" y="384048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131–182 个合格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4361688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想法不同 + 画面一致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89320" y="4617720"/>
            <a:ext cx="3474720" cy="50292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110 个够用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138928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分成三份、互不重叠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89320" y="544068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57" name="TextBox 56"/>
          <p:cNvSpPr txBox="1"/>
          <p:nvPr/>
        </p:nvSpPr>
        <p:spPr>
          <a:xfrm>
            <a:off x="6080759" y="550468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A2320"/>
                </a:solidFill>
                <a:latin typeface="Microsoft YaHei"/>
              </a:rPr>
              <a:t>开发 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44183" y="5779008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5F58"/>
                </a:solidFill>
                <a:latin typeface="Microsoft YaHei"/>
              </a:rPr>
              <a:t>用来调提示词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44967" y="544068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0" name="TextBox 59"/>
          <p:cNvSpPr txBox="1"/>
          <p:nvPr/>
        </p:nvSpPr>
        <p:spPr>
          <a:xfrm>
            <a:off x="7836407" y="550468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A2320"/>
                </a:solidFill>
                <a:latin typeface="Microsoft YaHei"/>
              </a:rPr>
              <a:t>印象 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99831" y="5779008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5F58"/>
                </a:solidFill>
                <a:latin typeface="Microsoft YaHei"/>
              </a:rPr>
              <a:t>Bob 旁观、攒印象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00615" y="544068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3" name="TextBox 62"/>
          <p:cNvSpPr txBox="1"/>
          <p:nvPr/>
        </p:nvSpPr>
        <p:spPr>
          <a:xfrm>
            <a:off x="9592055" y="550468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A2320"/>
                </a:solidFill>
                <a:latin typeface="Microsoft YaHei"/>
              </a:rPr>
              <a:t>正式 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5779008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5F58"/>
                </a:solidFill>
                <a:latin typeface="Microsoft YaHei"/>
              </a:rPr>
              <a:t>正式出题、定结论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58064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F58"/>
                </a:solidFill>
                <a:latin typeface="Microsoft YaHei"/>
              </a:rPr>
              <a:t>筛的规矩：第一步动作相同、目标设施不同、走完这步后 Bob 看到的画面一字不差。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FA08E"/>
                </a:solidFill>
                <a:latin typeface="Microsoft YaHei"/>
              </a:rPr>
              <a:t>造题 · 第二步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一题两段：上半段人造，下半段真跑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BEDE9"/>
          </a:solidFill>
          <a:ln w="1270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Rounded Rectangle 5"/>
          <p:cNvSpPr/>
          <p:nvPr/>
        </p:nvSpPr>
        <p:spPr>
          <a:xfrm>
            <a:off x="960120" y="20574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人造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9384" y="200253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B4A3F"/>
                </a:solidFill>
                <a:latin typeface="Microsoft YaHei"/>
              </a:rPr>
              <a:t>画面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2002536"/>
            <a:ext cx="1197864" cy="566928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B4A3F"/>
                </a:solidFill>
                <a:latin typeface="Microsoft YaHei"/>
              </a:rPr>
              <a:t>第一步动作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200253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B4A3F"/>
                </a:solidFill>
                <a:latin typeface="Microsoft YaHei"/>
              </a:rPr>
              <a:t>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11226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7A79B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002536"/>
            <a:ext cx="2761488" cy="566928"/>
          </a:xfrm>
          <a:prstGeom prst="roundRect">
            <a:avLst>
              <a:gd name="adj" fmla="val 12000"/>
            </a:avLst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Qwen 猜：等锅 / 拿料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718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7A79B"/>
                </a:solidFill>
                <a:latin typeface="Microsoft YaHei"/>
              </a:rPr>
              <a:t>↓ 同一起点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20440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332B27"/>
          </a:solidFill>
          <a:ln w="12700">
            <a:solidFill>
              <a:srgbClr val="4A3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4" name="Rounded Rectangle 13"/>
          <p:cNvSpPr/>
          <p:nvPr/>
        </p:nvSpPr>
        <p:spPr>
          <a:xfrm>
            <a:off x="960120" y="3794759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真实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9384" y="3739896"/>
            <a:ext cx="2066543" cy="566928"/>
          </a:xfrm>
          <a:prstGeom prst="roundRect">
            <a:avLst>
              <a:gd name="adj" fmla="val 12000"/>
            </a:avLst>
          </a:prstGeom>
          <a:solidFill>
            <a:srgbClr val="33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EADFD6"/>
                </a:solidFill>
                <a:latin typeface="Microsoft YaHei"/>
              </a:rPr>
              <a:t>Alice（成长后）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42232" y="3739896"/>
            <a:ext cx="2066543" cy="566928"/>
          </a:xfrm>
          <a:prstGeom prst="roundRect">
            <a:avLst>
              <a:gd name="adj" fmla="val 12000"/>
            </a:avLst>
          </a:prstGeom>
          <a:solidFill>
            <a:srgbClr val="33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EADFD6"/>
                </a:solidFill>
                <a:latin typeface="Microsoft YaHei"/>
              </a:rPr>
              <a:t>Bob（规则控制器）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8496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7A79B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739896"/>
            <a:ext cx="1545336" cy="566928"/>
          </a:xfrm>
          <a:prstGeom prst="roundRect">
            <a:avLst>
              <a:gd name="adj" fmla="val 12000"/>
            </a:avLst>
          </a:prstGeom>
          <a:solidFill>
            <a:srgbClr val="33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EADFD6"/>
                </a:solidFill>
                <a:latin typeface="Microsoft YaHei"/>
              </a:rPr>
              <a:t>跑 200 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4962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7A79B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739896"/>
            <a:ext cx="1197864" cy="566928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数出几碗汤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46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5F58"/>
                </a:solidFill>
                <a:latin typeface="Microsoft YaHei"/>
              </a:rPr>
              <a:t>造的那一帧只负责“出题”；答案对不对、配合好不好，全看下面这段真跑。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5042"/>
                </a:solidFill>
                <a:latin typeface="Microsoft YaHei"/>
              </a:rPr>
              <a:t>印象 · 第一步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Bob 的印象不是听说的，是他亲眼看见的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2240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Oval 5"/>
          <p:cNvSpPr/>
          <p:nvPr/>
        </p:nvSpPr>
        <p:spPr>
          <a:xfrm>
            <a:off x="877824" y="1645920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12848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40 个起点局面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05456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另一批，不碰正式题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9202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AFA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2696" y="1508760"/>
            <a:ext cx="2240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3502152" y="1645920"/>
            <a:ext cx="457200" cy="457200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12848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让 Alice 真跑一段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505456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最多 20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8696" y="19202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AFA4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07024" y="1508760"/>
            <a:ext cx="2240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6" name="Oval 15"/>
          <p:cNvSpPr/>
          <p:nvPr/>
        </p:nvSpPr>
        <p:spPr>
          <a:xfrm>
            <a:off x="6126480" y="1645920"/>
            <a:ext cx="457200" cy="457200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12848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只看 3×3 里有的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05456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走出视野就断片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9202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AFA4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1352" y="1508760"/>
            <a:ext cx="2240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1" name="Oval 20"/>
          <p:cNvSpPr/>
          <p:nvPr/>
        </p:nvSpPr>
        <p:spPr>
          <a:xfrm>
            <a:off x="8750808" y="1645920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212848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320"/>
                </a:solidFill>
                <a:latin typeface="Microsoft YaHei"/>
              </a:rPr>
              <a:t>攒成两本小本子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505456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5F58"/>
                </a:solidFill>
                <a:latin typeface="Microsoft YaHei"/>
              </a:rPr>
              <a:t>成长前跑 / 成长后跑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46120"/>
            <a:ext cx="53949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5" name="TextBox 24"/>
          <p:cNvSpPr txBox="1"/>
          <p:nvPr/>
        </p:nvSpPr>
        <p:spPr>
          <a:xfrm>
            <a:off x="877824" y="3401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E3A2F"/>
                </a:solidFill>
                <a:latin typeface="Microsoft YaHei"/>
              </a:rPr>
              <a:t>旧印象 · 由成长前跑出来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76732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4A3F"/>
                </a:solidFill>
                <a:latin typeface="Microsoft YaHei"/>
              </a:rPr>
              <a:t>27 / 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21408" y="3749039"/>
            <a:ext cx="3703320" cy="402336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8" name="Rounded Rectangle 27"/>
          <p:cNvSpPr/>
          <p:nvPr/>
        </p:nvSpPr>
        <p:spPr>
          <a:xfrm>
            <a:off x="2121408" y="3749039"/>
            <a:ext cx="2499741" cy="402336"/>
          </a:xfrm>
          <a:prstGeom prst="roundRect">
            <a:avLst>
              <a:gd name="adj" fmla="val 12000"/>
            </a:avLst>
          </a:prstGeom>
          <a:solidFill>
            <a:srgbClr val="A98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300" b="1">
                <a:solidFill>
                  <a:srgbClr val="FFFFFF"/>
                </a:solidFill>
                <a:latin typeface="Microsoft YaHei"/>
              </a:rPr>
              <a:t>67.5%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F58"/>
                </a:solidFill>
                <a:latin typeface="Microsoft YaHei"/>
              </a:rPr>
              <a:t>片段收场是“一直没去拿洋葱，空手站着”。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3246120"/>
            <a:ext cx="53949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1" name="TextBox 30"/>
          <p:cNvSpPr txBox="1"/>
          <p:nvPr/>
        </p:nvSpPr>
        <p:spPr>
          <a:xfrm>
            <a:off x="6547104" y="3401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E6B5B"/>
                </a:solidFill>
                <a:latin typeface="Microsoft YaHei"/>
              </a:rPr>
              <a:t>新印象 · 由成长后跑出来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376732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4A3F"/>
                </a:solidFill>
                <a:latin typeface="Microsoft YaHei"/>
              </a:rPr>
              <a:t>31 / 40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0688" y="3749039"/>
            <a:ext cx="3703320" cy="402336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34" name="Rounded Rectangle 33"/>
          <p:cNvSpPr/>
          <p:nvPr/>
        </p:nvSpPr>
        <p:spPr>
          <a:xfrm>
            <a:off x="7790688" y="3749039"/>
            <a:ext cx="2870073" cy="402336"/>
          </a:xfrm>
          <a:prstGeom prst="roundRect">
            <a:avLst>
              <a:gd name="adj" fmla="val 12000"/>
            </a:avLst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300" b="1">
                <a:solidFill>
                  <a:srgbClr val="FFFFFF"/>
                </a:solidFill>
                <a:latin typeface="Microsoft YaHei"/>
              </a:rPr>
              <a:t>77.5%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F58"/>
                </a:solidFill>
                <a:latin typeface="Microsoft YaHei"/>
              </a:rPr>
              <a:t>片段里出现了“被看到站在洋葱台旁”。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2578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5F58"/>
                </a:solidFill>
                <a:latin typeface="Microsoft YaHei"/>
              </a:rPr>
              <a:t>两边用的是同一批 40 个起点（举例：group_0）。看到的东西不一样，两本本子就不一样。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FA08E"/>
                </a:solidFill>
                <a:latin typeface="Microsoft YaHei"/>
              </a:rPr>
              <a:t>印象 · 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印象里的一帧，只装他看见的东西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53949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896112" y="179222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A2320"/>
                </a:solidFill>
                <a:latin typeface="Microsoft YaHei"/>
              </a:rPr>
              <a:t>他一眼看到的 3 ×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240280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5C4A42"/>
                </a:solidFill>
                <a:latin typeface="Microsoft YaHei"/>
              </a:rPr>
              <a:t>盘台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2240280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5C4A42"/>
                </a:solidFill>
                <a:latin typeface="Microsoft YaHei"/>
              </a:rPr>
              <a:t>墙 / 台面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7952" y="2240280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5C4A42"/>
                </a:solidFill>
                <a:latin typeface="Microsoft YaHei"/>
              </a:rPr>
              <a:t>锅[空]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880360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DCE8E1"/>
          </a:solidFill>
          <a:ln w="12700">
            <a:solidFill>
              <a:srgbClr val="BB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3F5C4C"/>
                </a:solidFill>
                <a:latin typeface="Microsoft YaHei"/>
              </a:rPr>
              <a:t>伙伴（空手）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2880360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5C4A42"/>
                </a:solidFill>
                <a:latin typeface="Microsoft YaHei"/>
              </a:rPr>
              <a:t>空地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7952" y="2880360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5C4A42"/>
                </a:solidFill>
                <a:latin typeface="Microsoft YaHei"/>
              </a:rPr>
              <a:t>空地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520440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5C4A42"/>
                </a:solidFill>
                <a:latin typeface="Microsoft YaHei"/>
              </a:rPr>
              <a:t>空地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032" y="3520440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5C4A42"/>
                </a:solidFill>
                <a:latin typeface="Microsoft YaHei"/>
              </a:rPr>
              <a:t>空地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3520440"/>
            <a:ext cx="1572768" cy="566928"/>
          </a:xfrm>
          <a:prstGeom prst="roundRect">
            <a:avLst>
              <a:gd name="adj" fmla="val 12000"/>
            </a:avLst>
          </a:prstGeom>
          <a:solidFill>
            <a:srgbClr val="FBF7F1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5C4A42"/>
                </a:solidFill>
                <a:latin typeface="Microsoft YaHei"/>
              </a:rPr>
              <a:t>空地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297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F58"/>
                </a:solidFill>
                <a:latin typeface="Microsoft YaHei"/>
              </a:rPr>
              <a:t>绿格就是 Alice 当时站的位置（这一帧她在 Bob 左手边）。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52120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8" name="TextBox 17"/>
          <p:cNvSpPr txBox="1"/>
          <p:nvPr/>
        </p:nvSpPr>
        <p:spPr>
          <a:xfrm>
            <a:off x="6547104" y="179222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A2320"/>
                </a:solidFill>
                <a:latin typeface="Microsoft YaHei"/>
              </a:rPr>
              <a:t>同一帧记下的字段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224028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Alice 位置 (4, 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3728" y="2240280"/>
            <a:ext cx="950976" cy="45720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朝向 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51008" y="2240280"/>
            <a:ext cx="950976" cy="45720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手持 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47104" y="2807208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第 1 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0688" y="2807208"/>
            <a:ext cx="1389888" cy="45720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动作 向左移动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47104" y="3374136"/>
            <a:ext cx="2267712" cy="45720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Bob 位置 (5,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374136"/>
            <a:ext cx="1682495" cy="457200"/>
          </a:xfrm>
          <a:prstGeom prst="roundRect">
            <a:avLst>
              <a:gd name="adj" fmla="val 12000"/>
            </a:avLst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4A3B33"/>
                </a:solidFill>
                <a:latin typeface="Microsoft YaHei"/>
              </a:rPr>
              <a:t>看过的锅 锅[空]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2976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F58"/>
                </a:solidFill>
                <a:latin typeface="Microsoft YaHei"/>
              </a:rPr>
              <a:t>每条都带“亲眼看到”的来源标记；看不到的东西不会写进来。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1206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FBEDE9"/>
          </a:solidFill>
          <a:ln w="1270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1">
                <a:solidFill>
                  <a:srgbClr val="8E3A2F"/>
                </a:solidFill>
                <a:latin typeface="Microsoft YaHei"/>
              </a:rPr>
              <a:t>✕ 她的真实意图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7" y="51206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FBEDE9"/>
          </a:solidFill>
          <a:ln w="1270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1">
                <a:solidFill>
                  <a:srgbClr val="8E3A2F"/>
                </a:solidFill>
                <a:latin typeface="Microsoft YaHei"/>
              </a:rPr>
              <a:t>✕ 视野外的位置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51206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FBEDE9"/>
          </a:solidFill>
          <a:ln w="1270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1">
                <a:solidFill>
                  <a:srgbClr val="8E3A2F"/>
                </a:solidFill>
                <a:latin typeface="Microsoft YaHei"/>
              </a:rPr>
              <a:t>✕ 没看见的锅态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FA08E"/>
                </a:solidFill>
                <a:latin typeface="Microsoft YaHei"/>
              </a:rPr>
              <a:t>Bob 的配置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2320"/>
                </a:solidFill>
                <a:latin typeface="Microsoft YaHei"/>
              </a:rPr>
              <a:t>他怎么“看”、怎么“猜”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2615184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6" name="Oval 5"/>
          <p:cNvSpPr/>
          <p:nvPr/>
        </p:nvSpPr>
        <p:spPr>
          <a:xfrm>
            <a:off x="932688" y="2011680"/>
            <a:ext cx="658368" cy="658368"/>
          </a:xfrm>
          <a:prstGeom prst="ellipse">
            <a:avLst/>
          </a:prstGeom>
          <a:solidFill>
            <a:srgbClr val="E8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157984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A2320"/>
                </a:solidFill>
                <a:latin typeface="Microsoft YaHei"/>
              </a:rPr>
              <a:t>3 × 3 视野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7472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5F58"/>
                </a:solidFill>
                <a:latin typeface="Microsoft YaHei"/>
              </a:rPr>
              <a:t>只记亲眼看到的：位置、手持、动作。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83080"/>
            <a:ext cx="2615184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3675887" y="2011680"/>
            <a:ext cx="658368" cy="658368"/>
          </a:xfrm>
          <a:prstGeom prst="ellipse">
            <a:avLst/>
          </a:prstGeom>
          <a:solidFill>
            <a:srgbClr val="D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22191" y="2157984"/>
            <a:ext cx="365760" cy="365760"/>
          </a:xfrm>
          <a:prstGeom prst="ellipse">
            <a:avLst/>
          </a:prstGeom>
          <a:solidFill>
            <a:srgbClr val="7FA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A2320"/>
                </a:solidFill>
                <a:latin typeface="Microsoft YaHei"/>
              </a:rPr>
              <a:t>Qwen3.5-9B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47472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5F58"/>
                </a:solidFill>
                <a:latin typeface="Microsoft YaHei"/>
              </a:rPr>
              <a:t>温度 0，固定 JSON：意图 / 目标设施 / 置信度。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83080"/>
            <a:ext cx="2615184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6" name="Oval 15"/>
          <p:cNvSpPr/>
          <p:nvPr/>
        </p:nvSpPr>
        <p:spPr>
          <a:xfrm>
            <a:off x="6419088" y="2011680"/>
            <a:ext cx="658368" cy="658368"/>
          </a:xfrm>
          <a:prstGeom prst="ellipse">
            <a:avLst/>
          </a:prstGeom>
          <a:solidFill>
            <a:srgbClr val="F6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65392" y="2157984"/>
            <a:ext cx="365760" cy="365760"/>
          </a:xfrm>
          <a:prstGeom prst="ellipse">
            <a:avLst/>
          </a:prstGeom>
          <a:solidFill>
            <a:srgbClr val="E2B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A2320"/>
                </a:solidFill>
                <a:latin typeface="Microsoft YaHei"/>
              </a:rPr>
              <a:t>每题 3 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7472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5F58"/>
                </a:solidFill>
                <a:latin typeface="Microsoft YaHei"/>
              </a:rPr>
              <a:t>同一问题问 3 次，取多数，压住抖动。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7" y="1783080"/>
            <a:ext cx="2615184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21" name="Oval 20"/>
          <p:cNvSpPr/>
          <p:nvPr/>
        </p:nvSpPr>
        <p:spPr>
          <a:xfrm>
            <a:off x="9162288" y="2011680"/>
            <a:ext cx="658368" cy="658368"/>
          </a:xfrm>
          <a:prstGeom prst="ellipse">
            <a:avLst/>
          </a:prstGeom>
          <a:solidFill>
            <a:srgbClr val="E8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08592" y="2157984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A2320"/>
                </a:solidFill>
                <a:latin typeface="Microsoft YaHei"/>
              </a:rPr>
              <a:t>规则控制器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47472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5F58"/>
                </a:solidFill>
                <a:latin typeface="Microsoft YaHei"/>
              </a:rPr>
              <a:t>猜完按固定规则干活：供洋葱或做服务。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5F58"/>
                </a:solidFill>
                <a:latin typeface="Microsoft YaHei"/>
              </a:rPr>
              <a:t>印象片段最长 20 步；Alice 一走出视野，这段观察就结束。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CCC2"/>
                </a:solidFill>
                <a:latin typeface="Microsoft YaHei"/>
              </a:rPr>
              <a:t>跑完的结果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印象一旧，判断就跟着旧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305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3EDE6"/>
                </a:solidFill>
                <a:latin typeface="Microsoft YaHei"/>
              </a:rPr>
              <a:t>旧印象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965960"/>
            <a:ext cx="9692640" cy="685800"/>
          </a:xfrm>
          <a:prstGeom prst="roundRect">
            <a:avLst>
              <a:gd name="adj" fmla="val 12000"/>
            </a:avLst>
          </a:prstGeom>
          <a:solidFill>
            <a:srgbClr val="33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7" name="Rounded Rectangle 6"/>
          <p:cNvSpPr/>
          <p:nvPr/>
        </p:nvSpPr>
        <p:spPr>
          <a:xfrm>
            <a:off x="1828800" y="1965960"/>
            <a:ext cx="2111056" cy="685800"/>
          </a:xfrm>
          <a:prstGeom prst="roundRect">
            <a:avLst>
              <a:gd name="adj" fmla="val 12000"/>
            </a:avLst>
          </a:prstGeom>
          <a:solidFill>
            <a:srgbClr val="8E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</a:rPr>
              <a:t>21.8%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821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3EDE6"/>
                </a:solidFill>
                <a:latin typeface="Microsoft YaHei"/>
              </a:rPr>
              <a:t>新印象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017520"/>
            <a:ext cx="9692640" cy="685800"/>
          </a:xfrm>
          <a:prstGeom prst="roundRect">
            <a:avLst>
              <a:gd name="adj" fmla="val 12000"/>
            </a:avLst>
          </a:prstGeom>
          <a:solidFill>
            <a:srgbClr val="33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0" name="Rounded Rectangle 9"/>
          <p:cNvSpPr/>
          <p:nvPr/>
        </p:nvSpPr>
        <p:spPr>
          <a:xfrm>
            <a:off x="1828800" y="3017520"/>
            <a:ext cx="8723376" cy="6858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/>
            <a:r>
              <a:rPr sz="1600" b="1">
                <a:solidFill>
                  <a:srgbClr val="FFFFFF"/>
                </a:solidFill>
                <a:latin typeface="Microsoft YaHei"/>
              </a:rPr>
              <a:t>90.0%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69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9CCC2"/>
                </a:solidFill>
                <a:latin typeface="Microsoft YaHei"/>
              </a:rPr>
              <a:t>猜对意图的比例（9 组共 450 个局面，9/9 组方向一致）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57200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33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3EDE6"/>
                </a:solidFill>
                <a:latin typeface="Microsoft YaHei"/>
              </a:rPr>
              <a:t>印象与真身匹配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3EDE6"/>
                </a:solidFill>
                <a:latin typeface="Microsoft YaHei"/>
              </a:rPr>
              <a:t>84.4%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457200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33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6638544" y="473659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3EDE6"/>
                </a:solidFill>
                <a:latin typeface="Microsoft YaHei"/>
              </a:rPr>
              <a:t>印象与真身不匹配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50292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08B7E"/>
                </a:solidFill>
                <a:latin typeface="Microsoft YaHei"/>
              </a:rPr>
              <a:t>16.2%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9AAA0"/>
                </a:solidFill>
                <a:latin typeface="Microsoft YaHei"/>
              </a:rPr>
              <a:t>得分只作辅助：新印象比旧印象多 0.39 碗 / +7.9 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